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57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</c:v>
                  </c:pt>
                  <c:pt idx="1">
                    <c:v>SVM</c:v>
                  </c:pt>
                  <c:pt idx="2">
                    <c:v>K-Means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0.251</c:v>
                </c:pt>
                <c:pt idx="1">
                  <c:v>0.265</c:v>
                </c:pt>
                <c:pt idx="2">
                  <c:v>0.276</c:v>
                </c:pt>
                <c:pt idx="3">
                  <c:v>0.255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0C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</c:v>
                  </c:pt>
                  <c:pt idx="1">
                    <c:v>SVM</c:v>
                  </c:pt>
                  <c:pt idx="2">
                    <c:v>K-Means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0.245</c:v>
                </c:pt>
                <c:pt idx="1">
                  <c:v>0.118</c:v>
                </c:pt>
                <c:pt idx="2">
                  <c:v>-0.049</c:v>
                </c:pt>
                <c:pt idx="3">
                  <c:v>0.249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365760"/>
            <a:ext cx="2011680" cy="2011680"/>
          </a:xfrm>
          <a:prstGeom prst="ellipse">
            <a:avLst/>
          </a:prstGeom>
          <a:solidFill>
            <a:srgbClr val="1E579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548640"/>
            <a:ext cx="1097280" cy="1097280"/>
          </a:xfrm>
          <a:prstGeom prst="ellipse">
            <a:avLst/>
          </a:prstGeom>
          <a:solidFill>
            <a:srgbClr val="00C2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Islamabad  |  AL2002 Artificial Intelligence  |  Spring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Reading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&amp;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 System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Neural Networks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374904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00C2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RACE Benchmark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2560320"/>
            <a:ext cx="2468880" cy="2286000"/>
          </a:xfrm>
          <a:prstGeom prst="rect">
            <a:avLst/>
          </a:prstGeom>
          <a:solidFill>
            <a:srgbClr val="1E5799">
              <a:alpha val="70000"/>
            </a:srgbClr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6517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Salman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23i-0775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Azhar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23i-0822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 |  May 10,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why it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640080"/>
          </a:xfrm>
          <a:prstGeom prst="rect">
            <a:avLst/>
          </a:prstGeom>
          <a:solidFill>
            <a:srgbClr val="00C2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&amp; Answer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/ Verifier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NLG with Wh-word patterns. Supervised verification using LR &amp; SVM. Evaluated with BLEU, ROUGE-L, METEOR.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3566160"/>
          </a:xfrm>
          <a:prstGeom prst="rect">
            <a:avLst/>
          </a:prstGeom>
          <a:solidFill>
            <a:srgbClr val="1E579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00C2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&amp; Hint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LR + Random Forest + XGBoost. 18 engineered features. 98.94% accuracy on 111K samples.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35661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solidFill>
            <a:srgbClr val="00C2FF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5146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4-screen interactive quiz app. Real-time analytics dashboard. Graduated hints + CSV export.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57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0876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28K passages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questions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92224" y="1600200"/>
            <a:ext cx="18288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8" name="Text 6"/>
          <p:cNvSpPr/>
          <p:nvPr/>
        </p:nvSpPr>
        <p:spPr>
          <a:xfrm>
            <a:off x="1892808" y="1517904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914400"/>
            <a:ext cx="150876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93392" y="1444752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 · TF-IDF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 · 18 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11296" y="1600200"/>
            <a:ext cx="18288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517904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12464" y="914400"/>
            <a:ext cx="1508760" cy="1463040"/>
          </a:xfrm>
          <a:prstGeom prst="rect">
            <a:avLst/>
          </a:prstGeom>
          <a:solidFill>
            <a:srgbClr val="1E5799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12464" y="1444752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 + Verifier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SVM · K-Means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30368" y="1600200"/>
            <a:ext cx="18288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30952" y="1517904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31536" y="914400"/>
            <a:ext cx="1508760" cy="1463040"/>
          </a:xfrm>
          <a:prstGeom prst="rect">
            <a:avLst/>
          </a:prstGeom>
          <a:solidFill>
            <a:srgbClr val="1E5799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31536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31536" y="1444752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+ Hints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· XGB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18288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050024" y="1517904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50608" y="914400"/>
            <a:ext cx="150876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50608" y="1444752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542032"/>
            <a:ext cx="1965960" cy="274320"/>
          </a:xfrm>
          <a:prstGeom prst="rect">
            <a:avLst/>
          </a:prstGeom>
          <a:solidFill>
            <a:srgbClr val="00C2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5420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95144" y="2542032"/>
            <a:ext cx="5212080" cy="274320"/>
          </a:xfrm>
          <a:prstGeom prst="rect">
            <a:avLst/>
          </a:prstGeom>
          <a:solidFill>
            <a:srgbClr val="00C2F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295144" y="25420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54112" y="2542032"/>
            <a:ext cx="1508760" cy="274320"/>
          </a:xfrm>
          <a:prstGeom prst="rect">
            <a:avLst/>
          </a:prstGeom>
          <a:solidFill>
            <a:srgbClr val="00C2F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754112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0240" y="3017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E5799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08960" y="3017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E5799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97680" y="3017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E5799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0" y="3017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E5799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75120" y="3017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E5799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Gensim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863840" y="3017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E5799">
              <a:alpha val="6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distinct features: Cosine Similarity · Jaccard Overlap · Character N-grams · Positional Bias · Passage Frequency · TF-IDF · ...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QUESTION GENERATION &amp; VERIFICATION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023360" cy="365760"/>
          </a:xfrm>
          <a:prstGeom prst="rect">
            <a:avLst/>
          </a:prstGeom>
          <a:solidFill>
            <a:srgbClr val="1E579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 Evaluation Metrics (500 samples)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precision vs. human reference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4023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4813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4813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 overlap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4023360" cy="4572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9568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19568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5960" y="19568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overlap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4023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323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24323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2432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023360" cy="4572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077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29077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0.1166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65960" y="29077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(best metric)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34015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Lower scores expected for template-based vs. diverse human references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594360"/>
            <a:ext cx="429768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594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Comparison (Accuracy / F1)</a:t>
            </a:r>
            <a:endParaRPr lang="en-US" sz="11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480560" y="1005840"/>
          <a:ext cx="4389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274320" y="3794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note: 4-class random chance = 25%. RACE is a challenging reasoning benchmark.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Wh-Templates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108960" y="4206240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0896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Masking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943600" y="4206240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Verifier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" y="4590288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4590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Verifier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108960" y="4590288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108960" y="4590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43600" y="4590288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0" y="4590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Soft-Vote Ensemble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57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DISTRACTOR &amp; HINT GENERATION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92024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58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640080"/>
            <a:ext cx="192024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658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50592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98.59%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50592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640080"/>
            <a:ext cx="192024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658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6864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26864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640080"/>
            <a:ext cx="192024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658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03136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97.51%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03136" y="1572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640080"/>
            <a:ext cx="0" cy="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640080"/>
            <a:ext cx="2926080" cy="1371600"/>
          </a:xfrm>
          <a:prstGeom prst="roundRect">
            <a:avLst>
              <a:gd name="adj" fmla="val 3333"/>
            </a:avLst>
          </a:prstGeom>
          <a:solidFill>
            <a:srgbClr val="1A3A5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685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Scorer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87.71%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035040" y="1572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148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111,977 samples  |  Positive: 23,982  |  Negative: 87,995  |  Training time: 14.1s  |  3-fold CV: 0.9903 ± 0.0006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(Dev Set)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1325880" cy="530352"/>
          </a:xfrm>
          <a:prstGeom prst="rect">
            <a:avLst/>
          </a:prstGeom>
          <a:solidFill>
            <a:srgbClr val="1E5799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2608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45920" y="2926080"/>
            <a:ext cx="1325880" cy="530352"/>
          </a:xfrm>
          <a:prstGeom prst="rect">
            <a:avLst/>
          </a:prstGeom>
          <a:solidFill>
            <a:srgbClr val="1E5799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292608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Neg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0" y="2926080"/>
            <a:ext cx="1325880" cy="530352"/>
          </a:xfrm>
          <a:prstGeom prst="rect">
            <a:avLst/>
          </a:prstGeom>
          <a:solidFill>
            <a:srgbClr val="1E5799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92608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Pos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474720"/>
            <a:ext cx="1325880" cy="530352"/>
          </a:xfrm>
          <a:prstGeom prst="rect">
            <a:avLst/>
          </a:prstGeom>
          <a:solidFill>
            <a:srgbClr val="1E5799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47472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Neg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0" y="3474720"/>
            <a:ext cx="1325880" cy="53035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347472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87,662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17520" y="3474720"/>
            <a:ext cx="1325880" cy="530352"/>
          </a:xfrm>
          <a:prstGeom prst="rect">
            <a:avLst/>
          </a:prstGeom>
          <a:solidFill>
            <a:srgbClr val="B91C1C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347472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4023360"/>
            <a:ext cx="1325880" cy="530352"/>
          </a:xfrm>
          <a:prstGeom prst="rect">
            <a:avLst/>
          </a:prstGeom>
          <a:solidFill>
            <a:srgbClr val="1E5799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02336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Pos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0" y="4023360"/>
            <a:ext cx="1325880" cy="530352"/>
          </a:xfrm>
          <a:prstGeom prst="rect">
            <a:avLst/>
          </a:prstGeom>
          <a:solidFill>
            <a:srgbClr val="B91C1C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0" y="402336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017520" y="4023360"/>
            <a:ext cx="1325880" cy="53035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402336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23,143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0" y="2560320"/>
            <a:ext cx="4297680" cy="320040"/>
          </a:xfrm>
          <a:prstGeom prst="rect">
            <a:avLst/>
          </a:prstGeom>
          <a:solidFill>
            <a:srgbClr val="1E5799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2560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Components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0" y="2944368"/>
            <a:ext cx="42976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2944368"/>
            <a:ext cx="64008" cy="5029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2944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40880" y="294436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patterns, fast inference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0" y="3511296"/>
            <a:ext cx="42976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511296"/>
            <a:ext cx="64008" cy="5029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53" name="Text 51"/>
          <p:cNvSpPr/>
          <p:nvPr/>
        </p:nvSpPr>
        <p:spPr>
          <a:xfrm>
            <a:off x="4709160" y="35112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40880" y="351129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decision boundaries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0" y="4078224"/>
            <a:ext cx="42976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4078224"/>
            <a:ext cx="64008" cy="5029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57" name="Text 55"/>
          <p:cNvSpPr/>
          <p:nvPr/>
        </p:nvSpPr>
        <p:spPr>
          <a:xfrm>
            <a:off x="4709160" y="40782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040880" y="407822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boosted, high precision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0" y="4663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Diversity penalty applied | Models persisted via joblib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USER INTERFACE — 4 SCREENS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4206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640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load RACE sample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text file option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triggers both models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indicator shown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64008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640080"/>
            <a:ext cx="4206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640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640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2070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question shown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randomized options (A-D)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9019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correct/incorrect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494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Passage-based explanation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16352"/>
            <a:ext cx="4206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16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2816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Panel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383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graduated hints (General → Specific → Near-explicit)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7307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revealed progressively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0782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'Reveal Answer' gated until all hints viewed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816352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816352"/>
            <a:ext cx="4206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816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0" y="2816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Precision, Recall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7307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display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0782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(ms)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4256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session export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57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11480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achieved 98.94% accuracy — classical ML with rich feature engineering is highly effective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41148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NLG metrics (BLEU 0.0052) are expected low for template-based vs. human references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41148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1284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scorer reached 87.71% CV accuracy — reliable extractive hint generation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07208"/>
            <a:ext cx="41148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0720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inference &lt; 10s — meets hardware constraints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401568"/>
            <a:ext cx="41148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0156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Soft-vote ensemble (LR+RF+XGB) provides robust distractor ranking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94360"/>
            <a:ext cx="4114800" cy="365760"/>
          </a:xfrm>
          <a:prstGeom prst="rect">
            <a:avLst/>
          </a:prstGeom>
          <a:solidFill>
            <a:srgbClr val="00C2FF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594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41148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24128"/>
            <a:ext cx="64008" cy="65836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607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/ BART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3350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NLG for fluent question generation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773936"/>
            <a:ext cx="41148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773936"/>
            <a:ext cx="64008" cy="65836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8105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084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distractors match the semantic type of the answer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23744"/>
            <a:ext cx="41148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523744"/>
            <a:ext cx="64008" cy="65836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5603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8346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non-English passages via XLM-RoBERTa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73552"/>
            <a:ext cx="41148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273552"/>
            <a:ext cx="64008" cy="65836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3101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5844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quiz complexity to user performance history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E579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C2F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743200" y="2011680"/>
            <a:ext cx="36576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Reading Comprehension &amp; Quiz Generation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834640"/>
            <a:ext cx="548640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29260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Salman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23i-0775  |  Section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Azhar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23i-0822  |  Section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Islamabad  |  AL2002 AI  | 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RC Quiz Generation System</dc:title>
  <dc:subject>PptxGenJS Presentation</dc:subject>
  <dc:creator>Shah Salman &amp; Saad Azhar</dc:creator>
  <cp:lastModifiedBy>Shah Salman &amp; Saad Azhar</cp:lastModifiedBy>
  <cp:revision>1</cp:revision>
  <dcterms:created xsi:type="dcterms:W3CDTF">2026-05-10T17:19:18Z</dcterms:created>
  <dcterms:modified xsi:type="dcterms:W3CDTF">2026-05-10T17:19:18Z</dcterms:modified>
</cp:coreProperties>
</file>